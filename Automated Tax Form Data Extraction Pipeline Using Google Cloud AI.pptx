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strument Sans Medium"/>
      <p:regular r:id="rId17"/>
      <p:bold r:id="rId18"/>
      <p:italic r:id="rId19"/>
      <p:boldItalic r:id="rId20"/>
    </p:embeddedFont>
    <p:embeddedFont>
      <p:font typeface="Instrument Sans SemiBold"/>
      <p:regular r:id="rId21"/>
      <p:bold r:id="rId22"/>
      <p:italic r:id="rId23"/>
      <p:boldItalic r:id="rId24"/>
    </p:embeddedFont>
    <p:embeddedFont>
      <p:font typeface="Outfit"/>
      <p:regular r:id="rId25"/>
      <p:bold r:id="rId26"/>
    </p:embeddedFont>
    <p:embeddedFont>
      <p:font typeface="Instrument Sans"/>
      <p:regular r:id="rId27"/>
      <p:bold r:id="rId28"/>
      <p:italic r:id="rId29"/>
      <p:boldItalic r:id="rId30"/>
    </p:embeddedFont>
    <p:embeddedFont>
      <p:font typeface="Outfit SemiBo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utfitSemiBold-regular.fntdata"/><Relationship Id="rId30" Type="http://schemas.openxmlformats.org/officeDocument/2006/relationships/font" Target="fonts/InstrumentSans-boldItalic.fntdata"/><Relationship Id="rId32" Type="http://schemas.openxmlformats.org/officeDocument/2006/relationships/font" Target="fonts/OutfitSemiBold-bold.fntdata"/><Relationship Id="rId20" Type="http://schemas.openxmlformats.org/officeDocument/2006/relationships/font" Target="fonts/InstrumentSansMedium-boldItalic.fntdata"/><Relationship Id="rId22" Type="http://schemas.openxmlformats.org/officeDocument/2006/relationships/font" Target="fonts/InstrumentSansSemiBold-bold.fntdata"/><Relationship Id="rId21" Type="http://schemas.openxmlformats.org/officeDocument/2006/relationships/font" Target="fonts/InstrumentSansSemiBold-regular.fntdata"/><Relationship Id="rId24" Type="http://schemas.openxmlformats.org/officeDocument/2006/relationships/font" Target="fonts/InstrumentSansSemiBold-boldItalic.fntdata"/><Relationship Id="rId23" Type="http://schemas.openxmlformats.org/officeDocument/2006/relationships/font" Target="fonts/InstrumentSansSemiBold-italic.fntdata"/><Relationship Id="rId26" Type="http://schemas.openxmlformats.org/officeDocument/2006/relationships/font" Target="fonts/Outfit-bold.fntdata"/><Relationship Id="rId25" Type="http://schemas.openxmlformats.org/officeDocument/2006/relationships/font" Target="fonts/Outfit-regular.fntdata"/><Relationship Id="rId28" Type="http://schemas.openxmlformats.org/officeDocument/2006/relationships/font" Target="fonts/InstrumentSans-bold.fntdata"/><Relationship Id="rId27" Type="http://schemas.openxmlformats.org/officeDocument/2006/relationships/font" Target="fonts/InstrumentSans-regular.fntdata"/><Relationship Id="rId29" Type="http://schemas.openxmlformats.org/officeDocument/2006/relationships/font" Target="fonts/Instrument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strumentSansMedium-regular.fntdata"/><Relationship Id="rId16" Type="http://schemas.openxmlformats.org/officeDocument/2006/relationships/slide" Target="slides/slide11.xml"/><Relationship Id="rId19" Type="http://schemas.openxmlformats.org/officeDocument/2006/relationships/font" Target="fonts/InstrumentSansMedium-italic.fntdata"/><Relationship Id="rId18" Type="http://schemas.openxmlformats.org/officeDocument/2006/relationships/font" Target="fonts/Instrument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b1195fe70_0_1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eb1195fe70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b1195fe70_0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eb1195fe70_0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b1195fe70_0_2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b1195fe70_0_2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b1473bd9a_5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eb1473bd9a_5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eb13e170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eb13e170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eb1195fe70_0_2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eb1195fe70_0_2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b13e1707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eb13e1707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b1195fe70_0_2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eb1195fe70_0_2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b1195fe70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eb1195fe70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b1884fb1a_54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eb1884fb1a_54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eb1884fb1a_66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eb1884fb1a_66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" name="Google Shape;11;p2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2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1" name="Google Shape;21;p3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" name="Google Shape;22;p3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" name="Google Shape;32;p5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6" name="Google Shape;36;p6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" name="Google Shape;42;p7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43" name="Google Shape;43;p7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44" name="Google Shape;44;p7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45" name="Google Shape;45;p7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6" name="Google Shape;46;p7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7" name="Google Shape;47;p7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8" name="Google Shape;48;p7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9" name="Google Shape;49;p7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" name="Google Shape;60;p8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1" name="Google Shape;61;p8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8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" name="Google Shape;63;p8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4" name="Google Shape;64;p8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5" name="Google Shape;65;p8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6" name="Google Shape;66;p8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7" name="Google Shape;67;p8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6" name="Google Shape;76;p9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7" name="Google Shape;77;p9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8" name="Google Shape;78;p9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9" name="Google Shape;79;p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80" name="Google Shape;80;p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0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5" name="Google Shape;85;p10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88" name="Google Shape;88;p10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89" name="Google Shape;89;p10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" name="Google Shape;93;p11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4" name="Google Shape;94;p11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5" name="Google Shape;95;p11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97" name="Google Shape;97;p11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0" name="Google Shape;100;p11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1" name="Google Shape;101;p11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2" name="Google Shape;10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" name="Google Shape;106;p12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8" name="Google Shape;108;p12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p1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3" name="Google Shape;113;p1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8" name="Google Shape;118;p13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20" name="Google Shape;120;p13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" name="Google Shape;121;p13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22" name="Google Shape;122;p13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24" name="Google Shape;124;p13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" name="Google Shape;125;p13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6" name="Google Shape;126;p13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7" name="Google Shape;127;p13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2" name="Google Shape;132;p14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3" name="Google Shape;133;p14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4" name="Google Shape;134;p14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35" name="Google Shape;135;p14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6" name="Google Shape;136;p14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37" name="Google Shape;137;p14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8" name="Google Shape;138;p14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9" name="Google Shape;139;p14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40" name="Google Shape;140;p14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41" name="Google Shape;141;p14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2" name="Google Shape;142;p14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3" name="Google Shape;14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6" name="Google Shape;146;p15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7" name="Google Shape;147;p15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15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9" name="Google Shape;149;p15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50" name="Google Shape;150;p15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2" name="Google Shape;152;p15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53" name="Google Shape;153;p15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4" name="Google Shape;154;p15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5" name="Google Shape;155;p15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6" name="Google Shape;156;p15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7" name="Google Shape;157;p15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8" name="Google Shape;158;p15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9" name="Google Shape;159;p15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3" name="Google Shape;163;p16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16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" name="Google Shape;165;p16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9" name="Google Shape;169;p16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0" name="Google Shape;170;p16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1" name="Google Shape;171;p16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72" name="Google Shape;172;p16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3" name="Google Shape;173;p16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4" name="Google Shape;17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8" name="Google Shape;178;p17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9" name="Google Shape;179;p17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17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1" name="Google Shape;181;p17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2" name="Google Shape;182;p17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3" name="Google Shape;183;p17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5" name="Google Shape;185;p17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86" name="Google Shape;186;p17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87" name="Google Shape;187;p17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8" name="Google Shape;188;p17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0" name="Google Shape;190;p17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6" name="Google Shape;196;p18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7" name="Google Shape;197;p18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99" name="Google Shape;199;p18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0" name="Google Shape;200;p18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1" name="Google Shape;201;p18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02" name="Google Shape;202;p18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203" name="Google Shape;203;p1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4" name="Google Shape;204;p1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5" name="Google Shape;20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8" name="Google Shape;208;p19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9" name="Google Shape;209;p19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0" name="Google Shape;210;p19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4" name="Google Shape;214;p19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5" name="Google Shape;215;p19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6" name="Google Shape;216;p19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7" name="Google Shape;217;p19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9" name="Google Shape;219;p19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1" name="Google Shape;221;p19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2" name="Google Shape;22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30" name="Google Shape;230;p20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1" name="Google Shape;231;p20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2" name="Google Shape;232;p20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33" name="Google Shape;233;p20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4" name="Google Shape;234;p20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5" name="Google Shape;235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8" name="Google Shape;238;p21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9" name="Google Shape;239;p21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0" name="Google Shape;240;p21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41" name="Google Shape;241;p21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2" name="Google Shape;242;p21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3" name="Google Shape;243;p21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44" name="Google Shape;244;p21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5" name="Google Shape;245;p21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9" name="Google Shape;249;p22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22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22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4" name="Google Shape;254;p22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5" name="Google Shape;255;p22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56" name="Google Shape;256;p22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57" name="Google Shape;25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0" name="Google Shape;260;p23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23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23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3" name="Google Shape;263;p23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64" name="Google Shape;264;p23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65" name="Google Shape;265;p23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66" name="Google Shape;266;p23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8" name="Google Shape;268;p23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69" name="Google Shape;269;p23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73" name="Google Shape;273;p24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74" name="Google Shape;274;p24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76" name="Google Shape;276;p24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77" name="Google Shape;277;p24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78" name="Google Shape;278;p24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9" name="Google Shape;279;p24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4" name="Google Shape;284;p24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85" name="Google Shape;28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288" name="Google Shape;288;p25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9" name="Google Shape;289;p25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0" name="Google Shape;290;p25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1" name="Google Shape;291;p25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2" name="Google Shape;292;p25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3" name="Google Shape;293;p25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4" name="Google Shape;29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6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6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6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6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09" name="Google Shape;30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2" name="Google Shape;312;p27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313" name="Google Shape;313;p27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4" name="Google Shape;314;p27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7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17" name="Google Shape;317;p27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18" name="Google Shape;318;p27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9" name="Google Shape;319;p27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20" name="Google Shape;320;p27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" name="Google Shape;321;p27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22" name="Google Shape;3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25" name="Google Shape;325;p28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26" name="Google Shape;326;p28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27" name="Google Shape;327;p28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28" name="Google Shape;328;p28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29" name="Google Shape;329;p28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0" name="Google Shape;330;p28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1" name="Google Shape;331;p28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2" name="Google Shape;332;p28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3" name="Google Shape;333;p28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4" name="Google Shape;334;p28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5" name="Google Shape;335;p28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6" name="Google Shape;336;p28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7" name="Google Shape;337;p28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8" name="Google Shape;338;p28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9" name="Google Shape;339;p28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0" name="Google Shape;340;p28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1" name="Google Shape;34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4" name="Google Shape;344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5" name="Google Shape;34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8" name="Google Shape;348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1" name="Google Shape;35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5" name="Google Shape;355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6" name="Google Shape;356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3" name="Google Shape;363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4" name="Google Shape;36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7" name="Google Shape;36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1" name="Google Shape;371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375" name="Google Shape;37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8" name="Google Shape;378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4" name="Google Shape;384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5" name="Google Shape;405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8" name="Google Shape;418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0" name="Google Shape;420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1" name="Google Shape;421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25" name="Google Shape;425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2" name="Google Shape;43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33" name="Google Shape;433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4" name="Google Shape;434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1" name="Google Shape;441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3" name="Google Shape;44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44" name="Google Shape;444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6" name="Google Shape;446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7" name="Google Shape;44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59" name="Google Shape;459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1884fb1a_61_0)">
  <p:cSld name="Generated (g3eb1884fb1a_61_0)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Achilles Joaquin Zubia</a:t>
            </a:r>
            <a:endParaRPr/>
          </a:p>
        </p:txBody>
      </p:sp>
      <p:sp>
        <p:nvSpPr>
          <p:cNvPr id="469" name="Google Shape;469;p51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Automated Tax Form Data Extraction Pipeline Using Google Cloud AI</a:t>
            </a:r>
            <a:endParaRPr sz="4700"/>
          </a:p>
        </p:txBody>
      </p:sp>
      <p:sp>
        <p:nvSpPr>
          <p:cNvPr id="470" name="Google Shape;470;p51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05-28-2026</a:t>
            </a:r>
            <a:endParaRPr/>
          </a:p>
        </p:txBody>
      </p:sp>
      <p:sp>
        <p:nvSpPr>
          <p:cNvPr id="471" name="Google Shape;471;p51"/>
          <p:cNvSpPr/>
          <p:nvPr/>
        </p:nvSpPr>
        <p:spPr>
          <a:xfrm>
            <a:off x="6475559" y="4286678"/>
            <a:ext cx="256800" cy="25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descr="Shopping bag icon" id="472" name="Google Shape;472;p51"/>
          <p:cNvSpPr/>
          <p:nvPr/>
        </p:nvSpPr>
        <p:spPr>
          <a:xfrm>
            <a:off x="6547475" y="4339354"/>
            <a:ext cx="113107" cy="131833"/>
          </a:xfrm>
          <a:custGeom>
            <a:rect b="b" l="l" r="r" t="t"/>
            <a:pathLst>
              <a:path extrusionOk="0" h="29642" w="25446">
                <a:moveTo>
                  <a:pt x="12723" y="2798"/>
                </a:moveTo>
                <a:lnTo>
                  <a:pt x="13160" y="2842"/>
                </a:lnTo>
                <a:lnTo>
                  <a:pt x="13598" y="2885"/>
                </a:lnTo>
                <a:lnTo>
                  <a:pt x="13991" y="2973"/>
                </a:lnTo>
                <a:lnTo>
                  <a:pt x="14341" y="3104"/>
                </a:lnTo>
                <a:lnTo>
                  <a:pt x="14734" y="3279"/>
                </a:lnTo>
                <a:lnTo>
                  <a:pt x="15084" y="3498"/>
                </a:lnTo>
                <a:lnTo>
                  <a:pt x="15434" y="3760"/>
                </a:lnTo>
                <a:lnTo>
                  <a:pt x="15740" y="4022"/>
                </a:lnTo>
                <a:lnTo>
                  <a:pt x="16002" y="4372"/>
                </a:lnTo>
                <a:lnTo>
                  <a:pt x="16265" y="4678"/>
                </a:lnTo>
                <a:lnTo>
                  <a:pt x="16483" y="5028"/>
                </a:lnTo>
                <a:lnTo>
                  <a:pt x="16658" y="5421"/>
                </a:lnTo>
                <a:lnTo>
                  <a:pt x="16789" y="5815"/>
                </a:lnTo>
                <a:lnTo>
                  <a:pt x="16877" y="6208"/>
                </a:lnTo>
                <a:lnTo>
                  <a:pt x="16964" y="6602"/>
                </a:lnTo>
                <a:lnTo>
                  <a:pt x="16964" y="7039"/>
                </a:lnTo>
                <a:lnTo>
                  <a:pt x="8482" y="7039"/>
                </a:lnTo>
                <a:lnTo>
                  <a:pt x="8526" y="6602"/>
                </a:lnTo>
                <a:lnTo>
                  <a:pt x="8570" y="6208"/>
                </a:lnTo>
                <a:lnTo>
                  <a:pt x="8657" y="5815"/>
                </a:lnTo>
                <a:lnTo>
                  <a:pt x="8789" y="5421"/>
                </a:lnTo>
                <a:lnTo>
                  <a:pt x="8963" y="5028"/>
                </a:lnTo>
                <a:lnTo>
                  <a:pt x="9182" y="4678"/>
                </a:lnTo>
                <a:lnTo>
                  <a:pt x="9444" y="4372"/>
                </a:lnTo>
                <a:lnTo>
                  <a:pt x="9707" y="4022"/>
                </a:lnTo>
                <a:lnTo>
                  <a:pt x="10056" y="3760"/>
                </a:lnTo>
                <a:lnTo>
                  <a:pt x="10362" y="3498"/>
                </a:lnTo>
                <a:lnTo>
                  <a:pt x="10712" y="3279"/>
                </a:lnTo>
                <a:lnTo>
                  <a:pt x="11106" y="3104"/>
                </a:lnTo>
                <a:lnTo>
                  <a:pt x="11499" y="2973"/>
                </a:lnTo>
                <a:lnTo>
                  <a:pt x="11893" y="2885"/>
                </a:lnTo>
                <a:lnTo>
                  <a:pt x="12286" y="2842"/>
                </a:lnTo>
                <a:lnTo>
                  <a:pt x="12723" y="2798"/>
                </a:lnTo>
                <a:close/>
                <a:moveTo>
                  <a:pt x="5684" y="11280"/>
                </a:moveTo>
                <a:lnTo>
                  <a:pt x="5684" y="11979"/>
                </a:lnTo>
                <a:lnTo>
                  <a:pt x="5816" y="12679"/>
                </a:lnTo>
                <a:lnTo>
                  <a:pt x="5947" y="13378"/>
                </a:lnTo>
                <a:lnTo>
                  <a:pt x="6165" y="13990"/>
                </a:lnTo>
                <a:lnTo>
                  <a:pt x="6471" y="14602"/>
                </a:lnTo>
                <a:lnTo>
                  <a:pt x="6821" y="15171"/>
                </a:lnTo>
                <a:lnTo>
                  <a:pt x="7258" y="15739"/>
                </a:lnTo>
                <a:lnTo>
                  <a:pt x="7739" y="16264"/>
                </a:lnTo>
                <a:lnTo>
                  <a:pt x="8264" y="16744"/>
                </a:lnTo>
                <a:lnTo>
                  <a:pt x="8832" y="17182"/>
                </a:lnTo>
                <a:lnTo>
                  <a:pt x="9401" y="17531"/>
                </a:lnTo>
                <a:lnTo>
                  <a:pt x="10013" y="17837"/>
                </a:lnTo>
                <a:lnTo>
                  <a:pt x="10668" y="18056"/>
                </a:lnTo>
                <a:lnTo>
                  <a:pt x="11324" y="18231"/>
                </a:lnTo>
                <a:lnTo>
                  <a:pt x="12024" y="18318"/>
                </a:lnTo>
                <a:lnTo>
                  <a:pt x="12723" y="18362"/>
                </a:lnTo>
                <a:lnTo>
                  <a:pt x="13467" y="18318"/>
                </a:lnTo>
                <a:lnTo>
                  <a:pt x="14122" y="18231"/>
                </a:lnTo>
                <a:lnTo>
                  <a:pt x="14822" y="18056"/>
                </a:lnTo>
                <a:lnTo>
                  <a:pt x="15434" y="17837"/>
                </a:lnTo>
                <a:lnTo>
                  <a:pt x="16046" y="17531"/>
                </a:lnTo>
                <a:lnTo>
                  <a:pt x="16658" y="17182"/>
                </a:lnTo>
                <a:lnTo>
                  <a:pt x="17183" y="16744"/>
                </a:lnTo>
                <a:lnTo>
                  <a:pt x="17707" y="16264"/>
                </a:lnTo>
                <a:lnTo>
                  <a:pt x="18188" y="15739"/>
                </a:lnTo>
                <a:lnTo>
                  <a:pt x="18625" y="15171"/>
                </a:lnTo>
                <a:lnTo>
                  <a:pt x="18975" y="14602"/>
                </a:lnTo>
                <a:lnTo>
                  <a:pt x="19281" y="13990"/>
                </a:lnTo>
                <a:lnTo>
                  <a:pt x="19500" y="13378"/>
                </a:lnTo>
                <a:lnTo>
                  <a:pt x="19675" y="12679"/>
                </a:lnTo>
                <a:lnTo>
                  <a:pt x="19762" y="11979"/>
                </a:lnTo>
                <a:lnTo>
                  <a:pt x="19806" y="11280"/>
                </a:lnTo>
                <a:lnTo>
                  <a:pt x="16964" y="11280"/>
                </a:lnTo>
                <a:lnTo>
                  <a:pt x="16964" y="11717"/>
                </a:lnTo>
                <a:lnTo>
                  <a:pt x="16877" y="12110"/>
                </a:lnTo>
                <a:lnTo>
                  <a:pt x="16789" y="12547"/>
                </a:lnTo>
                <a:lnTo>
                  <a:pt x="16658" y="12897"/>
                </a:lnTo>
                <a:lnTo>
                  <a:pt x="16483" y="13291"/>
                </a:lnTo>
                <a:lnTo>
                  <a:pt x="16265" y="13640"/>
                </a:lnTo>
                <a:lnTo>
                  <a:pt x="16002" y="13946"/>
                </a:lnTo>
                <a:lnTo>
                  <a:pt x="15740" y="14296"/>
                </a:lnTo>
                <a:lnTo>
                  <a:pt x="15434" y="14558"/>
                </a:lnTo>
                <a:lnTo>
                  <a:pt x="15084" y="14821"/>
                </a:lnTo>
                <a:lnTo>
                  <a:pt x="14734" y="15039"/>
                </a:lnTo>
                <a:lnTo>
                  <a:pt x="14341" y="15214"/>
                </a:lnTo>
                <a:lnTo>
                  <a:pt x="13991" y="15345"/>
                </a:lnTo>
                <a:lnTo>
                  <a:pt x="13598" y="15433"/>
                </a:lnTo>
                <a:lnTo>
                  <a:pt x="13160" y="15520"/>
                </a:lnTo>
                <a:lnTo>
                  <a:pt x="12286" y="15520"/>
                </a:lnTo>
                <a:lnTo>
                  <a:pt x="11893" y="15433"/>
                </a:lnTo>
                <a:lnTo>
                  <a:pt x="11499" y="15345"/>
                </a:lnTo>
                <a:lnTo>
                  <a:pt x="11106" y="15214"/>
                </a:lnTo>
                <a:lnTo>
                  <a:pt x="10712" y="15039"/>
                </a:lnTo>
                <a:lnTo>
                  <a:pt x="10362" y="14821"/>
                </a:lnTo>
                <a:lnTo>
                  <a:pt x="10056" y="14558"/>
                </a:lnTo>
                <a:lnTo>
                  <a:pt x="9707" y="14296"/>
                </a:lnTo>
                <a:lnTo>
                  <a:pt x="9444" y="13946"/>
                </a:lnTo>
                <a:lnTo>
                  <a:pt x="9182" y="13640"/>
                </a:lnTo>
                <a:lnTo>
                  <a:pt x="8963" y="13291"/>
                </a:lnTo>
                <a:lnTo>
                  <a:pt x="8789" y="12897"/>
                </a:lnTo>
                <a:lnTo>
                  <a:pt x="8657" y="12547"/>
                </a:lnTo>
                <a:lnTo>
                  <a:pt x="8570" y="12110"/>
                </a:lnTo>
                <a:lnTo>
                  <a:pt x="8526" y="11717"/>
                </a:lnTo>
                <a:lnTo>
                  <a:pt x="8482" y="11280"/>
                </a:lnTo>
                <a:close/>
                <a:moveTo>
                  <a:pt x="22604" y="9881"/>
                </a:moveTo>
                <a:lnTo>
                  <a:pt x="22604" y="26800"/>
                </a:lnTo>
                <a:lnTo>
                  <a:pt x="2843" y="26800"/>
                </a:lnTo>
                <a:lnTo>
                  <a:pt x="2843" y="9881"/>
                </a:lnTo>
                <a:close/>
                <a:moveTo>
                  <a:pt x="12024" y="0"/>
                </a:moveTo>
                <a:lnTo>
                  <a:pt x="11324" y="131"/>
                </a:lnTo>
                <a:lnTo>
                  <a:pt x="10668" y="262"/>
                </a:lnTo>
                <a:lnTo>
                  <a:pt x="10013" y="481"/>
                </a:lnTo>
                <a:lnTo>
                  <a:pt x="9401" y="787"/>
                </a:lnTo>
                <a:lnTo>
                  <a:pt x="8832" y="1137"/>
                </a:lnTo>
                <a:lnTo>
                  <a:pt x="8264" y="1574"/>
                </a:lnTo>
                <a:lnTo>
                  <a:pt x="7739" y="2055"/>
                </a:lnTo>
                <a:lnTo>
                  <a:pt x="7258" y="2579"/>
                </a:lnTo>
                <a:lnTo>
                  <a:pt x="6821" y="3148"/>
                </a:lnTo>
                <a:lnTo>
                  <a:pt x="6471" y="3716"/>
                </a:lnTo>
                <a:lnTo>
                  <a:pt x="6165" y="4328"/>
                </a:lnTo>
                <a:lnTo>
                  <a:pt x="5947" y="4984"/>
                </a:lnTo>
                <a:lnTo>
                  <a:pt x="5816" y="5640"/>
                </a:lnTo>
                <a:lnTo>
                  <a:pt x="5684" y="6339"/>
                </a:lnTo>
                <a:lnTo>
                  <a:pt x="5684" y="7039"/>
                </a:lnTo>
                <a:lnTo>
                  <a:pt x="2537" y="7039"/>
                </a:lnTo>
                <a:lnTo>
                  <a:pt x="2274" y="7083"/>
                </a:lnTo>
                <a:lnTo>
                  <a:pt x="2012" y="7170"/>
                </a:lnTo>
                <a:lnTo>
                  <a:pt x="1750" y="7257"/>
                </a:lnTo>
                <a:lnTo>
                  <a:pt x="1531" y="7389"/>
                </a:lnTo>
                <a:lnTo>
                  <a:pt x="1269" y="7520"/>
                </a:lnTo>
                <a:lnTo>
                  <a:pt x="1050" y="7695"/>
                </a:lnTo>
                <a:lnTo>
                  <a:pt x="832" y="7869"/>
                </a:lnTo>
                <a:lnTo>
                  <a:pt x="657" y="8088"/>
                </a:lnTo>
                <a:lnTo>
                  <a:pt x="482" y="8307"/>
                </a:lnTo>
                <a:lnTo>
                  <a:pt x="351" y="8525"/>
                </a:lnTo>
                <a:lnTo>
                  <a:pt x="220" y="8788"/>
                </a:lnTo>
                <a:lnTo>
                  <a:pt x="132" y="9050"/>
                </a:lnTo>
                <a:lnTo>
                  <a:pt x="88" y="9312"/>
                </a:lnTo>
                <a:lnTo>
                  <a:pt x="45" y="9575"/>
                </a:lnTo>
                <a:lnTo>
                  <a:pt x="1" y="9881"/>
                </a:lnTo>
                <a:lnTo>
                  <a:pt x="1" y="26800"/>
                </a:lnTo>
                <a:lnTo>
                  <a:pt x="45" y="27106"/>
                </a:lnTo>
                <a:lnTo>
                  <a:pt x="88" y="27368"/>
                </a:lnTo>
                <a:lnTo>
                  <a:pt x="132" y="27631"/>
                </a:lnTo>
                <a:lnTo>
                  <a:pt x="220" y="27893"/>
                </a:lnTo>
                <a:lnTo>
                  <a:pt x="351" y="28155"/>
                </a:lnTo>
                <a:lnTo>
                  <a:pt x="482" y="28374"/>
                </a:lnTo>
                <a:lnTo>
                  <a:pt x="657" y="28592"/>
                </a:lnTo>
                <a:lnTo>
                  <a:pt x="832" y="28811"/>
                </a:lnTo>
                <a:lnTo>
                  <a:pt x="1050" y="29030"/>
                </a:lnTo>
                <a:lnTo>
                  <a:pt x="1269" y="29161"/>
                </a:lnTo>
                <a:lnTo>
                  <a:pt x="1531" y="29336"/>
                </a:lnTo>
                <a:lnTo>
                  <a:pt x="1750" y="29423"/>
                </a:lnTo>
                <a:lnTo>
                  <a:pt x="2012" y="29510"/>
                </a:lnTo>
                <a:lnTo>
                  <a:pt x="2274" y="29598"/>
                </a:lnTo>
                <a:lnTo>
                  <a:pt x="2537" y="29642"/>
                </a:lnTo>
                <a:lnTo>
                  <a:pt x="22910" y="29642"/>
                </a:lnTo>
                <a:lnTo>
                  <a:pt x="23172" y="29598"/>
                </a:lnTo>
                <a:lnTo>
                  <a:pt x="23435" y="29510"/>
                </a:lnTo>
                <a:lnTo>
                  <a:pt x="23697" y="29423"/>
                </a:lnTo>
                <a:lnTo>
                  <a:pt x="23959" y="29336"/>
                </a:lnTo>
                <a:lnTo>
                  <a:pt x="24178" y="29161"/>
                </a:lnTo>
                <a:lnTo>
                  <a:pt x="24396" y="29030"/>
                </a:lnTo>
                <a:lnTo>
                  <a:pt x="24615" y="28811"/>
                </a:lnTo>
                <a:lnTo>
                  <a:pt x="24790" y="28592"/>
                </a:lnTo>
                <a:lnTo>
                  <a:pt x="24965" y="28374"/>
                </a:lnTo>
                <a:lnTo>
                  <a:pt x="25096" y="28155"/>
                </a:lnTo>
                <a:lnTo>
                  <a:pt x="25227" y="27893"/>
                </a:lnTo>
                <a:lnTo>
                  <a:pt x="25314" y="27631"/>
                </a:lnTo>
                <a:lnTo>
                  <a:pt x="25402" y="27368"/>
                </a:lnTo>
                <a:lnTo>
                  <a:pt x="25446" y="27106"/>
                </a:lnTo>
                <a:lnTo>
                  <a:pt x="25446" y="26800"/>
                </a:lnTo>
                <a:lnTo>
                  <a:pt x="25446" y="9881"/>
                </a:lnTo>
                <a:lnTo>
                  <a:pt x="25446" y="9575"/>
                </a:lnTo>
                <a:lnTo>
                  <a:pt x="25402" y="9312"/>
                </a:lnTo>
                <a:lnTo>
                  <a:pt x="25314" y="9050"/>
                </a:lnTo>
                <a:lnTo>
                  <a:pt x="25227" y="8788"/>
                </a:lnTo>
                <a:lnTo>
                  <a:pt x="25096" y="8525"/>
                </a:lnTo>
                <a:lnTo>
                  <a:pt x="24965" y="8307"/>
                </a:lnTo>
                <a:lnTo>
                  <a:pt x="24790" y="8088"/>
                </a:lnTo>
                <a:lnTo>
                  <a:pt x="24615" y="7869"/>
                </a:lnTo>
                <a:lnTo>
                  <a:pt x="24396" y="7695"/>
                </a:lnTo>
                <a:lnTo>
                  <a:pt x="24178" y="7520"/>
                </a:lnTo>
                <a:lnTo>
                  <a:pt x="23959" y="7389"/>
                </a:lnTo>
                <a:lnTo>
                  <a:pt x="23697" y="7257"/>
                </a:lnTo>
                <a:lnTo>
                  <a:pt x="23435" y="7170"/>
                </a:lnTo>
                <a:lnTo>
                  <a:pt x="23172" y="7083"/>
                </a:lnTo>
                <a:lnTo>
                  <a:pt x="22910" y="7039"/>
                </a:lnTo>
                <a:lnTo>
                  <a:pt x="19806" y="7039"/>
                </a:lnTo>
                <a:lnTo>
                  <a:pt x="19762" y="6339"/>
                </a:lnTo>
                <a:lnTo>
                  <a:pt x="19675" y="5640"/>
                </a:lnTo>
                <a:lnTo>
                  <a:pt x="19500" y="4984"/>
                </a:lnTo>
                <a:lnTo>
                  <a:pt x="19281" y="4328"/>
                </a:lnTo>
                <a:lnTo>
                  <a:pt x="18975" y="3716"/>
                </a:lnTo>
                <a:lnTo>
                  <a:pt x="18625" y="3148"/>
                </a:lnTo>
                <a:lnTo>
                  <a:pt x="18188" y="2579"/>
                </a:lnTo>
                <a:lnTo>
                  <a:pt x="17707" y="2055"/>
                </a:lnTo>
                <a:lnTo>
                  <a:pt x="17183" y="1574"/>
                </a:lnTo>
                <a:lnTo>
                  <a:pt x="16658" y="1137"/>
                </a:lnTo>
                <a:lnTo>
                  <a:pt x="16046" y="787"/>
                </a:lnTo>
                <a:lnTo>
                  <a:pt x="15434" y="481"/>
                </a:lnTo>
                <a:lnTo>
                  <a:pt x="14822" y="262"/>
                </a:lnTo>
                <a:lnTo>
                  <a:pt x="14122" y="131"/>
                </a:lnTo>
                <a:lnTo>
                  <a:pt x="134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An abstract texture of raised wave shapes on a white surface. " id="473" name="Google Shape;473;p51"/>
          <p:cNvPicPr preferRelativeResize="0"/>
          <p:nvPr/>
        </p:nvPicPr>
        <p:blipFill rotWithShape="1">
          <a:blip r:embed="rId3">
            <a:alphaModFix amt="50000"/>
          </a:blip>
          <a:srcRect b="0" l="23650" r="43595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74" name="Google Shape;47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"/>
          <p:cNvSpPr/>
          <p:nvPr/>
        </p:nvSpPr>
        <p:spPr>
          <a:xfrm flipH="1">
            <a:off x="1521074" y="110082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2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0" name="Google Shape;480;p52"/>
          <p:cNvSpPr/>
          <p:nvPr/>
        </p:nvSpPr>
        <p:spPr>
          <a:xfrm flipH="1">
            <a:off x="4414649" y="110082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1" name="Google Shape;481;p52"/>
          <p:cNvSpPr/>
          <p:nvPr/>
        </p:nvSpPr>
        <p:spPr>
          <a:xfrm flipH="1">
            <a:off x="1521074" y="221780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2" name="Google Shape;482;p52"/>
          <p:cNvSpPr/>
          <p:nvPr/>
        </p:nvSpPr>
        <p:spPr>
          <a:xfrm flipH="1">
            <a:off x="4414649" y="221780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3" name="Google Shape;483;p52"/>
          <p:cNvSpPr/>
          <p:nvPr/>
        </p:nvSpPr>
        <p:spPr>
          <a:xfrm flipH="1">
            <a:off x="1521074" y="333477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D966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4" name="Google Shape;484;p52"/>
          <p:cNvSpPr txBox="1"/>
          <p:nvPr>
            <p:ph type="title"/>
          </p:nvPr>
        </p:nvSpPr>
        <p:spPr>
          <a:xfrm>
            <a:off x="175125" y="140100"/>
            <a:ext cx="43437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sp>
        <p:nvSpPr>
          <p:cNvPr id="485" name="Google Shape;485;p52"/>
          <p:cNvSpPr txBox="1"/>
          <p:nvPr>
            <p:ph idx="3" type="subTitle"/>
          </p:nvPr>
        </p:nvSpPr>
        <p:spPr>
          <a:xfrm>
            <a:off x="1691250" y="26233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Store structured results in BigQuery </a:t>
            </a:r>
            <a:endParaRPr sz="1500"/>
          </a:p>
        </p:txBody>
      </p:sp>
      <p:sp>
        <p:nvSpPr>
          <p:cNvPr id="486" name="Google Shape;486;p52"/>
          <p:cNvSpPr txBox="1"/>
          <p:nvPr>
            <p:ph idx="4" type="subTitle"/>
          </p:nvPr>
        </p:nvSpPr>
        <p:spPr>
          <a:xfrm>
            <a:off x="4584825" y="26233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Export reviewed results into CSV format </a:t>
            </a:r>
            <a:endParaRPr sz="1500"/>
          </a:p>
        </p:txBody>
      </p:sp>
      <p:sp>
        <p:nvSpPr>
          <p:cNvPr id="487" name="Google Shape;487;p52"/>
          <p:cNvSpPr txBox="1"/>
          <p:nvPr>
            <p:ph idx="1" type="subTitle"/>
          </p:nvPr>
        </p:nvSpPr>
        <p:spPr>
          <a:xfrm>
            <a:off x="1691250" y="15063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Extract Customer Fields using Google Document AI</a:t>
            </a:r>
            <a:endParaRPr sz="1500"/>
          </a:p>
        </p:txBody>
      </p:sp>
      <p:sp>
        <p:nvSpPr>
          <p:cNvPr id="488" name="Google Shape;488;p52"/>
          <p:cNvSpPr txBox="1"/>
          <p:nvPr>
            <p:ph idx="2" type="subTitle"/>
          </p:nvPr>
        </p:nvSpPr>
        <p:spPr>
          <a:xfrm>
            <a:off x="4584825" y="1506350"/>
            <a:ext cx="30381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Parse and validate extracted values using Python </a:t>
            </a:r>
            <a:endParaRPr sz="1500"/>
          </a:p>
        </p:txBody>
      </p:sp>
      <p:sp>
        <p:nvSpPr>
          <p:cNvPr id="489" name="Google Shape;489;p52"/>
          <p:cNvSpPr txBox="1"/>
          <p:nvPr>
            <p:ph idx="5" type="subTitle"/>
          </p:nvPr>
        </p:nvSpPr>
        <p:spPr>
          <a:xfrm>
            <a:off x="1691250" y="3740300"/>
            <a:ext cx="2537100" cy="517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Route incomplete or uncertain records for manual review </a:t>
            </a:r>
            <a:endParaRPr sz="1500"/>
          </a:p>
        </p:txBody>
      </p:sp>
      <p:sp>
        <p:nvSpPr>
          <p:cNvPr id="490" name="Google Shape;490;p52"/>
          <p:cNvSpPr txBox="1"/>
          <p:nvPr>
            <p:ph idx="9" type="subTitle"/>
          </p:nvPr>
        </p:nvSpPr>
        <p:spPr>
          <a:xfrm>
            <a:off x="1691250" y="1217450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1" name="Google Shape;491;p52"/>
          <p:cNvSpPr txBox="1"/>
          <p:nvPr>
            <p:ph idx="13" type="subTitle"/>
          </p:nvPr>
        </p:nvSpPr>
        <p:spPr>
          <a:xfrm>
            <a:off x="4584825" y="1217450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2" name="Google Shape;492;p52"/>
          <p:cNvSpPr txBox="1"/>
          <p:nvPr>
            <p:ph idx="14" type="subTitle"/>
          </p:nvPr>
        </p:nvSpPr>
        <p:spPr>
          <a:xfrm>
            <a:off x="1691250" y="2334500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3" name="Google Shape;493;p52"/>
          <p:cNvSpPr txBox="1"/>
          <p:nvPr>
            <p:ph idx="15" type="subTitle"/>
          </p:nvPr>
        </p:nvSpPr>
        <p:spPr>
          <a:xfrm>
            <a:off x="4584825" y="2334500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94" name="Google Shape;494;p52"/>
          <p:cNvSpPr txBox="1"/>
          <p:nvPr>
            <p:ph idx="16" type="subTitle"/>
          </p:nvPr>
        </p:nvSpPr>
        <p:spPr>
          <a:xfrm>
            <a:off x="1691250" y="3451550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95" name="Google Shape;495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/>
          <p:nvPr/>
        </p:nvSpPr>
        <p:spPr>
          <a:xfrm>
            <a:off x="213075" y="862601"/>
            <a:ext cx="8646300" cy="1282800"/>
          </a:xfrm>
          <a:prstGeom prst="roundRect">
            <a:avLst>
              <a:gd fmla="val 1101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01" name="Google Shape;501;p53"/>
          <p:cNvSpPr txBox="1"/>
          <p:nvPr>
            <p:ph type="title"/>
          </p:nvPr>
        </p:nvSpPr>
        <p:spPr>
          <a:xfrm>
            <a:off x="284775" y="282900"/>
            <a:ext cx="3512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502" name="Google Shape;502;p53"/>
          <p:cNvSpPr txBox="1"/>
          <p:nvPr/>
        </p:nvSpPr>
        <p:spPr>
          <a:xfrm>
            <a:off x="307675" y="862601"/>
            <a:ext cx="8551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files are dummy U.S. tax forms and include both clean and noisy/scanned documents.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PDFs were stored in Google Cloud Storage under the raw/ folder and processed through the extraction pipeline.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3" name="Google Shape;503;p53"/>
          <p:cNvSpPr/>
          <p:nvPr/>
        </p:nvSpPr>
        <p:spPr>
          <a:xfrm>
            <a:off x="208675" y="2249908"/>
            <a:ext cx="8646300" cy="1714800"/>
          </a:xfrm>
          <a:prstGeom prst="roundRect">
            <a:avLst>
              <a:gd fmla="val 1101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70075" lIns="70075" spcFirstLastPara="1" rIns="70075" wrap="square" tIns="7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3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04" name="Google Shape;504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53"/>
          <p:cNvSpPr txBox="1"/>
          <p:nvPr/>
        </p:nvSpPr>
        <p:spPr>
          <a:xfrm>
            <a:off x="301050" y="2237876"/>
            <a:ext cx="8435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evaluation, a manually checked ground truth sample was created from 27 PDFs: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11 clean PDFs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16 noisy PDFs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81 total field checks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 fields marked as Not Verifiable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4"/>
          <p:cNvSpPr txBox="1"/>
          <p:nvPr>
            <p:ph type="title"/>
          </p:nvPr>
        </p:nvSpPr>
        <p:spPr>
          <a:xfrm>
            <a:off x="284775" y="282900"/>
            <a:ext cx="3512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511" name="Google Shape;511;p54"/>
          <p:cNvSpPr/>
          <p:nvPr/>
        </p:nvSpPr>
        <p:spPr>
          <a:xfrm>
            <a:off x="1332881" y="1118550"/>
            <a:ext cx="1808700" cy="2796600"/>
          </a:xfrm>
          <a:prstGeom prst="roundRect">
            <a:avLst>
              <a:gd fmla="val 1101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2" name="Google Shape;512;p54"/>
          <p:cNvSpPr/>
          <p:nvPr/>
        </p:nvSpPr>
        <p:spPr>
          <a:xfrm>
            <a:off x="3141590" y="1118550"/>
            <a:ext cx="2095800" cy="2796600"/>
          </a:xfrm>
          <a:prstGeom prst="roundRect">
            <a:avLst>
              <a:gd fmla="val 1101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3" name="Google Shape;513;p54"/>
          <p:cNvSpPr/>
          <p:nvPr/>
        </p:nvSpPr>
        <p:spPr>
          <a:xfrm>
            <a:off x="5237314" y="1118550"/>
            <a:ext cx="3137700" cy="2796600"/>
          </a:xfrm>
          <a:prstGeom prst="roundRect">
            <a:avLst>
              <a:gd fmla="val 1101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4" name="Google Shape;514;p54"/>
          <p:cNvSpPr txBox="1"/>
          <p:nvPr>
            <p:ph idx="4294967295" type="subTitle"/>
          </p:nvPr>
        </p:nvSpPr>
        <p:spPr>
          <a:xfrm>
            <a:off x="1503939" y="1320525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Files: 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dummy U.S. tax forms</a:t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(both clean and noisy documents)</a:t>
            </a:r>
            <a:endParaRPr sz="1900"/>
          </a:p>
        </p:txBody>
      </p:sp>
      <p:sp>
        <p:nvSpPr>
          <p:cNvPr id="515" name="Google Shape;515;p54"/>
          <p:cNvSpPr txBox="1"/>
          <p:nvPr>
            <p:ph idx="4294967295" type="subTitle"/>
          </p:nvPr>
        </p:nvSpPr>
        <p:spPr>
          <a:xfrm>
            <a:off x="5339776" y="1320525"/>
            <a:ext cx="29328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Evaluation: </a:t>
            </a:r>
            <a:r>
              <a:rPr b="1" lang="en" sz="1700"/>
              <a:t>manually checked ground truth samples</a:t>
            </a:r>
            <a:r>
              <a:rPr lang="en" sz="1700"/>
              <a:t> (27 PDFs):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16" name="Google Shape;516;p54"/>
          <p:cNvSpPr txBox="1"/>
          <p:nvPr>
            <p:ph idx="4294967295" type="subTitle"/>
          </p:nvPr>
        </p:nvSpPr>
        <p:spPr>
          <a:xfrm>
            <a:off x="3331439" y="1320525"/>
            <a:ext cx="1735800" cy="2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PDFs were stored in </a:t>
            </a:r>
            <a:r>
              <a:rPr b="1" lang="en" sz="1900"/>
              <a:t>Google Cloud Storage</a:t>
            </a:r>
            <a:r>
              <a:rPr lang="en" sz="1900"/>
              <a:t> and processed through the </a:t>
            </a:r>
            <a:r>
              <a:rPr b="1" lang="en" sz="1900"/>
              <a:t>extraction pipeline</a:t>
            </a:r>
            <a:r>
              <a:rPr lang="en" sz="1900"/>
              <a:t>.</a:t>
            </a:r>
            <a:endParaRPr b="1"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/>
          </a:p>
        </p:txBody>
      </p:sp>
      <p:sp>
        <p:nvSpPr>
          <p:cNvPr id="517" name="Google Shape;517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54"/>
          <p:cNvSpPr txBox="1"/>
          <p:nvPr>
            <p:ph idx="4294967295" type="subTitle"/>
          </p:nvPr>
        </p:nvSpPr>
        <p:spPr>
          <a:xfrm>
            <a:off x="5568825" y="2318850"/>
            <a:ext cx="2474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11 clean PDFs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16 noisy PDFs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81 total field checks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4 fields marked as Not Verifiable 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035" y="389400"/>
            <a:ext cx="3000350" cy="409179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4" name="Google Shape;52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4435" y="389400"/>
            <a:ext cx="3151619" cy="409179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5" name="Google Shape;525;p55"/>
          <p:cNvSpPr txBox="1"/>
          <p:nvPr/>
        </p:nvSpPr>
        <p:spPr>
          <a:xfrm>
            <a:off x="6628346" y="4515376"/>
            <a:ext cx="1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with noise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6" name="Google Shape;526;p55"/>
          <p:cNvSpPr txBox="1"/>
          <p:nvPr/>
        </p:nvSpPr>
        <p:spPr>
          <a:xfrm>
            <a:off x="3607085" y="4515376"/>
            <a:ext cx="10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clean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7" name="Google Shape;527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55"/>
          <p:cNvSpPr txBox="1"/>
          <p:nvPr>
            <p:ph type="title"/>
          </p:nvPr>
        </p:nvSpPr>
        <p:spPr>
          <a:xfrm>
            <a:off x="284775" y="282900"/>
            <a:ext cx="3512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6"/>
          <p:cNvSpPr txBox="1"/>
          <p:nvPr>
            <p:ph type="title"/>
          </p:nvPr>
        </p:nvSpPr>
        <p:spPr>
          <a:xfrm>
            <a:off x="284775" y="282900"/>
            <a:ext cx="44778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Architecture</a:t>
            </a:r>
            <a:endParaRPr/>
          </a:p>
        </p:txBody>
      </p:sp>
      <p:pic>
        <p:nvPicPr>
          <p:cNvPr id="534" name="Google Shape;534;p56" title="Flowchart 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38" y="1626925"/>
            <a:ext cx="8196726" cy="21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57"/>
          <p:cNvGrpSpPr/>
          <p:nvPr/>
        </p:nvGrpSpPr>
        <p:grpSpPr>
          <a:xfrm>
            <a:off x="285750" y="285750"/>
            <a:ext cx="4191000" cy="3238500"/>
            <a:chOff x="285750" y="285750"/>
            <a:chExt cx="4191000" cy="3238500"/>
          </a:xfrm>
        </p:grpSpPr>
        <p:sp>
          <p:nvSpPr>
            <p:cNvPr id="540" name="Google Shape;540;p57"/>
            <p:cNvSpPr/>
            <p:nvPr/>
          </p:nvSpPr>
          <p:spPr>
            <a:xfrm>
              <a:off x="285750" y="285750"/>
              <a:ext cx="4191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7"/>
            <p:cNvSpPr txBox="1"/>
            <p:nvPr/>
          </p:nvSpPr>
          <p:spPr>
            <a:xfrm>
              <a:off x="476250" y="476250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D3D3D"/>
                  </a:solidFill>
                  <a:latin typeface="Outfit"/>
                  <a:ea typeface="Outfit"/>
                  <a:cs typeface="Outfit"/>
                  <a:sym typeface="Outfit"/>
                </a:rPr>
                <a:t>Extraction</a:t>
              </a:r>
              <a:endParaRPr b="0" sz="28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Document AI extracts OCR text from each PDF.</a:t>
              </a:r>
              <a:endParaRPr sz="13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Python parser identifies:</a:t>
              </a:r>
              <a:endParaRPr b="1" sz="14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Employee / customer name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Employee / customer address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Employee / customer identification number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Employer name and address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375"/>
                </a:spcBef>
                <a:spcAft>
                  <a:spcPts val="375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Employer EIN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42" name="Google Shape;542;p57"/>
          <p:cNvGrpSpPr/>
          <p:nvPr/>
        </p:nvGrpSpPr>
        <p:grpSpPr>
          <a:xfrm>
            <a:off x="4667250" y="285750"/>
            <a:ext cx="4191000" cy="3238500"/>
            <a:chOff x="4667250" y="285750"/>
            <a:chExt cx="4191000" cy="3238500"/>
          </a:xfrm>
        </p:grpSpPr>
        <p:sp>
          <p:nvSpPr>
            <p:cNvPr id="543" name="Google Shape;543;p57"/>
            <p:cNvSpPr/>
            <p:nvPr/>
          </p:nvSpPr>
          <p:spPr>
            <a:xfrm>
              <a:off x="4667250" y="285750"/>
              <a:ext cx="4191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57"/>
            <p:cNvSpPr txBox="1"/>
            <p:nvPr/>
          </p:nvSpPr>
          <p:spPr>
            <a:xfrm>
              <a:off x="4857750" y="476250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3D3D3D"/>
                  </a:solidFill>
                  <a:latin typeface="Outfit"/>
                  <a:ea typeface="Outfit"/>
                  <a:cs typeface="Outfit"/>
                  <a:sym typeface="Outfit"/>
                </a:rPr>
                <a:t>Validation</a:t>
              </a:r>
              <a:endParaRPr b="0" sz="28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Validation checks:</a:t>
              </a:r>
              <a:endParaRPr b="1" sz="14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Name format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Address completeness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ID number format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Confidence thresholds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D3D3D"/>
                </a:buClr>
                <a:buSzPts val="1200"/>
                <a:buFont typeface="Instrument Sans"/>
                <a:buChar char="●"/>
              </a:pPr>
              <a:r>
                <a:rPr lang="en" sz="1200">
                  <a:solidFill>
                    <a:srgbClr val="3D3D3D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Missing or uncertain fields</a:t>
              </a:r>
              <a:endParaRPr sz="12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45" name="Google Shape;545;p57"/>
          <p:cNvGrpSpPr/>
          <p:nvPr/>
        </p:nvGrpSpPr>
        <p:grpSpPr>
          <a:xfrm>
            <a:off x="285750" y="3714750"/>
            <a:ext cx="8572500" cy="1238400"/>
            <a:chOff x="285750" y="3714750"/>
            <a:chExt cx="8572500" cy="1238400"/>
          </a:xfrm>
        </p:grpSpPr>
        <p:sp>
          <p:nvSpPr>
            <p:cNvPr id="546" name="Google Shape;546;p57"/>
            <p:cNvSpPr/>
            <p:nvPr/>
          </p:nvSpPr>
          <p:spPr>
            <a:xfrm>
              <a:off x="285750" y="3714750"/>
              <a:ext cx="8572500" cy="1238400"/>
            </a:xfrm>
            <a:prstGeom prst="roundRect">
              <a:avLst>
                <a:gd fmla="val 923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57"/>
            <p:cNvSpPr txBox="1"/>
            <p:nvPr/>
          </p:nvSpPr>
          <p:spPr>
            <a:xfrm>
              <a:off x="467640" y="3829957"/>
              <a:ext cx="1761000" cy="9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lang="en" sz="3400">
                  <a:solidFill>
                    <a:schemeClr val="lt1"/>
                  </a:solidFill>
                  <a:latin typeface="Outfit"/>
                  <a:ea typeface="Outfit"/>
                  <a:cs typeface="Outfit"/>
                  <a:sym typeface="Outfit"/>
                </a:rPr>
                <a:t>Status Output </a:t>
              </a:r>
              <a:endParaRPr sz="1288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sp>
        <p:nvSpPr>
          <p:cNvPr id="548" name="Google Shape;54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57"/>
          <p:cNvSpPr txBox="1"/>
          <p:nvPr/>
        </p:nvSpPr>
        <p:spPr>
          <a:xfrm>
            <a:off x="2474560" y="4002148"/>
            <a:ext cx="2547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AUTO_APPROVED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600"/>
              </a:spcBef>
              <a:spcAft>
                <a:spcPts val="375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Complete and reliable fields </a:t>
            </a:r>
            <a:endParaRPr/>
          </a:p>
        </p:txBody>
      </p:sp>
      <p:sp>
        <p:nvSpPr>
          <p:cNvPr id="550" name="Google Shape;550;p57"/>
          <p:cNvSpPr txBox="1"/>
          <p:nvPr/>
        </p:nvSpPr>
        <p:spPr>
          <a:xfrm>
            <a:off x="4817988" y="4003050"/>
            <a:ext cx="3191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NEEDS_REVIEW </a:t>
            </a:r>
            <a:endParaRPr b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ctr">
              <a:spcBef>
                <a:spcPts val="600"/>
              </a:spcBef>
              <a:spcAft>
                <a:spcPts val="375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Missing, incomplete, or uncertain fields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58"/>
          <p:cNvGrpSpPr/>
          <p:nvPr/>
        </p:nvGrpSpPr>
        <p:grpSpPr>
          <a:xfrm>
            <a:off x="285750" y="1333500"/>
            <a:ext cx="8548613" cy="1428900"/>
            <a:chOff x="285750" y="1333500"/>
            <a:chExt cx="8548613" cy="1428900"/>
          </a:xfrm>
        </p:grpSpPr>
        <p:sp>
          <p:nvSpPr>
            <p:cNvPr id="556" name="Google Shape;556;p58"/>
            <p:cNvSpPr/>
            <p:nvPr/>
          </p:nvSpPr>
          <p:spPr>
            <a:xfrm>
              <a:off x="285750" y="1333500"/>
              <a:ext cx="20478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58"/>
            <p:cNvSpPr txBox="1"/>
            <p:nvPr/>
          </p:nvSpPr>
          <p:spPr>
            <a:xfrm>
              <a:off x="285750" y="1333500"/>
              <a:ext cx="2047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Field-Level Accuracy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5237E6"/>
                  </a:solidFill>
                  <a:latin typeface="Outfit"/>
                  <a:ea typeface="Outfit"/>
                  <a:cs typeface="Outfit"/>
                  <a:sym typeface="Outfit"/>
                </a:rPr>
                <a:t>88.31%</a:t>
              </a:r>
              <a:endParaRPr b="1" sz="2800">
                <a:solidFill>
                  <a:srgbClr val="5237E6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58" name="Google Shape;558;p58"/>
            <p:cNvSpPr/>
            <p:nvPr/>
          </p:nvSpPr>
          <p:spPr>
            <a:xfrm>
              <a:off x="2452688" y="1333500"/>
              <a:ext cx="20478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58"/>
            <p:cNvSpPr txBox="1"/>
            <p:nvPr/>
          </p:nvSpPr>
          <p:spPr>
            <a:xfrm>
              <a:off x="2452688" y="1333500"/>
              <a:ext cx="2047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Clean PDF Accuracy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5237E6"/>
                  </a:solidFill>
                  <a:latin typeface="Outfit"/>
                  <a:ea typeface="Outfit"/>
                  <a:cs typeface="Outfit"/>
                  <a:sym typeface="Outfit"/>
                </a:rPr>
                <a:t>87.88%</a:t>
              </a:r>
              <a:endParaRPr b="1" sz="2800">
                <a:solidFill>
                  <a:srgbClr val="5237E6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60" name="Google Shape;560;p58"/>
            <p:cNvSpPr/>
            <p:nvPr/>
          </p:nvSpPr>
          <p:spPr>
            <a:xfrm>
              <a:off x="4619625" y="1333500"/>
              <a:ext cx="20478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58"/>
            <p:cNvSpPr txBox="1"/>
            <p:nvPr/>
          </p:nvSpPr>
          <p:spPr>
            <a:xfrm>
              <a:off x="4619625" y="1333500"/>
              <a:ext cx="2047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Noisy PDF Accuracy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5237E6"/>
                  </a:solidFill>
                  <a:latin typeface="Outfit"/>
                  <a:ea typeface="Outfit"/>
                  <a:cs typeface="Outfit"/>
                  <a:sym typeface="Outfit"/>
                </a:rPr>
                <a:t>88.64%</a:t>
              </a:r>
              <a:endParaRPr b="1" sz="2800">
                <a:solidFill>
                  <a:srgbClr val="5237E6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62" name="Google Shape;562;p58"/>
            <p:cNvSpPr/>
            <p:nvPr/>
          </p:nvSpPr>
          <p:spPr>
            <a:xfrm>
              <a:off x="6786563" y="1333500"/>
              <a:ext cx="20478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58"/>
            <p:cNvSpPr txBox="1"/>
            <p:nvPr/>
          </p:nvSpPr>
          <p:spPr>
            <a:xfrm>
              <a:off x="6786563" y="1333500"/>
              <a:ext cx="2047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Auto-Approval Precision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22C55E"/>
                  </a:solidFill>
                  <a:latin typeface="Outfit"/>
                  <a:ea typeface="Outfit"/>
                  <a:cs typeface="Outfit"/>
                  <a:sym typeface="Outfit"/>
                </a:rPr>
                <a:t>100.00%</a:t>
              </a:r>
              <a:endParaRPr b="1" sz="2800">
                <a:solidFill>
                  <a:srgbClr val="22C55E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564" name="Google Shape;564;p58"/>
          <p:cNvGrpSpPr/>
          <p:nvPr/>
        </p:nvGrpSpPr>
        <p:grpSpPr>
          <a:xfrm>
            <a:off x="285750" y="3000375"/>
            <a:ext cx="8548800" cy="762000"/>
            <a:chOff x="285750" y="3000375"/>
            <a:chExt cx="8548800" cy="762000"/>
          </a:xfrm>
        </p:grpSpPr>
        <p:sp>
          <p:nvSpPr>
            <p:cNvPr id="565" name="Google Shape;565;p58"/>
            <p:cNvSpPr/>
            <p:nvPr/>
          </p:nvSpPr>
          <p:spPr>
            <a:xfrm>
              <a:off x="285750" y="3000375"/>
              <a:ext cx="8548800" cy="762000"/>
            </a:xfrm>
            <a:prstGeom prst="roundRect">
              <a:avLst>
                <a:gd fmla="val 10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58"/>
            <p:cNvSpPr txBox="1"/>
            <p:nvPr/>
          </p:nvSpPr>
          <p:spPr>
            <a:xfrm>
              <a:off x="428625" y="3000375"/>
              <a:ext cx="8262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Evaluation was based on 27 manually checked PDFs with 81 field-level checks. Fields marked as Not Verifiable were excluded from the accuracy calculation.</a:t>
              </a:r>
              <a:endParaRPr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67" name="Google Shape;567;p58"/>
          <p:cNvGrpSpPr/>
          <p:nvPr/>
        </p:nvGrpSpPr>
        <p:grpSpPr>
          <a:xfrm>
            <a:off x="285750" y="4000500"/>
            <a:ext cx="8548800" cy="857400"/>
            <a:chOff x="285750" y="4000500"/>
            <a:chExt cx="8548800" cy="857400"/>
          </a:xfrm>
        </p:grpSpPr>
        <p:sp>
          <p:nvSpPr>
            <p:cNvPr id="568" name="Google Shape;568;p58"/>
            <p:cNvSpPr/>
            <p:nvPr/>
          </p:nvSpPr>
          <p:spPr>
            <a:xfrm>
              <a:off x="285750" y="4000500"/>
              <a:ext cx="8548800" cy="857400"/>
            </a:xfrm>
            <a:prstGeom prst="roundRect">
              <a:avLst>
                <a:gd fmla="val 13333" name="adj"/>
              </a:avLst>
            </a:prstGeom>
            <a:solidFill>
              <a:srgbClr val="EEF2FF"/>
            </a:solidFill>
            <a:ln cap="flat" cmpd="sng" w="9525">
              <a:solidFill>
                <a:srgbClr val="C7D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58"/>
            <p:cNvSpPr txBox="1"/>
            <p:nvPr/>
          </p:nvSpPr>
          <p:spPr>
            <a:xfrm>
              <a:off x="285750" y="4000500"/>
              <a:ext cx="8548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12E81"/>
                  </a:solidFill>
                  <a:latin typeface="Outfit"/>
                  <a:ea typeface="Outfit"/>
                  <a:cs typeface="Outfit"/>
                  <a:sym typeface="Outfit"/>
                </a:rPr>
                <a:t>Accuracy = Pass / (Pass + Fail)</a:t>
              </a:r>
              <a:endParaRPr b="1" sz="1400">
                <a:solidFill>
                  <a:srgbClr val="312E81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312E81"/>
                  </a:solidFill>
                  <a:latin typeface="Outfit"/>
                  <a:ea typeface="Outfit"/>
                  <a:cs typeface="Outfit"/>
                  <a:sym typeface="Outfit"/>
                </a:rPr>
                <a:t>68 / (68 + 9) = </a:t>
              </a:r>
              <a:r>
                <a:rPr b="1" lang="en" sz="1800">
                  <a:solidFill>
                    <a:srgbClr val="312E81"/>
                  </a:solidFill>
                  <a:latin typeface="Outfit"/>
                  <a:ea typeface="Outfit"/>
                  <a:cs typeface="Outfit"/>
                  <a:sym typeface="Outfit"/>
                </a:rPr>
                <a:t>88.31%</a:t>
              </a:r>
              <a:endParaRPr b="0" sz="1800">
                <a:solidFill>
                  <a:srgbClr val="312E8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70" name="Google Shape;570;p58"/>
          <p:cNvSpPr txBox="1"/>
          <p:nvPr>
            <p:ph type="title"/>
          </p:nvPr>
        </p:nvSpPr>
        <p:spPr>
          <a:xfrm>
            <a:off x="285750" y="285750"/>
            <a:ext cx="7620000" cy="49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rPr>
              <a:t>Accuracy and Evaluation Results</a:t>
            </a:r>
            <a:endParaRPr b="0" sz="3600">
              <a:solidFill>
                <a:srgbClr val="3D3D3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1" name="Google Shape;571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576;p59"/>
          <p:cNvGrpSpPr/>
          <p:nvPr/>
        </p:nvGrpSpPr>
        <p:grpSpPr>
          <a:xfrm>
            <a:off x="285750" y="1143000"/>
            <a:ext cx="8429475" cy="1428900"/>
            <a:chOff x="285750" y="1143000"/>
            <a:chExt cx="8429475" cy="1428900"/>
          </a:xfrm>
        </p:grpSpPr>
        <p:sp>
          <p:nvSpPr>
            <p:cNvPr id="577" name="Google Shape;577;p59"/>
            <p:cNvSpPr/>
            <p:nvPr/>
          </p:nvSpPr>
          <p:spPr>
            <a:xfrm>
              <a:off x="285750" y="1143000"/>
              <a:ext cx="20001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9"/>
            <p:cNvSpPr txBox="1"/>
            <p:nvPr/>
          </p:nvSpPr>
          <p:spPr>
            <a:xfrm>
              <a:off x="285750" y="114300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Total PDFs Processed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3D3D3D"/>
                  </a:solidFill>
                  <a:latin typeface="Outfit"/>
                  <a:ea typeface="Outfit"/>
                  <a:cs typeface="Outfit"/>
                  <a:sym typeface="Outfit"/>
                </a:rPr>
                <a:t>481 / 481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79" name="Google Shape;579;p59"/>
            <p:cNvSpPr/>
            <p:nvPr/>
          </p:nvSpPr>
          <p:spPr>
            <a:xfrm>
              <a:off x="2428875" y="1143000"/>
              <a:ext cx="20001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9"/>
            <p:cNvSpPr txBox="1"/>
            <p:nvPr/>
          </p:nvSpPr>
          <p:spPr>
            <a:xfrm>
              <a:off x="2428875" y="114300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Auto-Approved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22C55E"/>
                  </a:solidFill>
                  <a:latin typeface="Outfit"/>
                  <a:ea typeface="Outfit"/>
                  <a:cs typeface="Outfit"/>
                  <a:sym typeface="Outfit"/>
                </a:rPr>
                <a:t>258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2C55E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53.64%</a:t>
              </a:r>
              <a:endParaRPr b="0" sz="1200">
                <a:solidFill>
                  <a:srgbClr val="22C55E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81" name="Google Shape;581;p59"/>
            <p:cNvSpPr/>
            <p:nvPr/>
          </p:nvSpPr>
          <p:spPr>
            <a:xfrm>
              <a:off x="4572000" y="1143000"/>
              <a:ext cx="20001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59"/>
            <p:cNvSpPr txBox="1"/>
            <p:nvPr/>
          </p:nvSpPr>
          <p:spPr>
            <a:xfrm>
              <a:off x="4572000" y="114300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Needs Review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5237E6"/>
                  </a:solidFill>
                  <a:latin typeface="Outfit"/>
                  <a:ea typeface="Outfit"/>
                  <a:cs typeface="Outfit"/>
                  <a:sym typeface="Outfit"/>
                </a:rPr>
                <a:t>223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237E6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46.36%</a:t>
              </a:r>
              <a:endParaRPr b="0" sz="1200">
                <a:solidFill>
                  <a:srgbClr val="5237E6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83" name="Google Shape;583;p59"/>
            <p:cNvSpPr/>
            <p:nvPr/>
          </p:nvSpPr>
          <p:spPr>
            <a:xfrm>
              <a:off x="6715125" y="1143000"/>
              <a:ext cx="20001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9"/>
            <p:cNvSpPr txBox="1"/>
            <p:nvPr/>
          </p:nvSpPr>
          <p:spPr>
            <a:xfrm>
              <a:off x="6715125" y="114300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Failed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F4444"/>
                  </a:solidFill>
                  <a:latin typeface="Outfit"/>
                  <a:ea typeface="Outfit"/>
                  <a:cs typeface="Outfit"/>
                  <a:sym typeface="Outfit"/>
                </a:rPr>
                <a:t>0</a:t>
              </a:r>
              <a:endParaRPr b="0" sz="14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EF4444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0.00%</a:t>
              </a:r>
              <a:endParaRPr b="0" sz="1200">
                <a:solidFill>
                  <a:srgbClr val="EF4444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85" name="Google Shape;585;p59"/>
          <p:cNvGrpSpPr/>
          <p:nvPr/>
        </p:nvGrpSpPr>
        <p:grpSpPr>
          <a:xfrm>
            <a:off x="285750" y="2762250"/>
            <a:ext cx="8429700" cy="2095500"/>
            <a:chOff x="285750" y="2762250"/>
            <a:chExt cx="8429700" cy="2095500"/>
          </a:xfrm>
        </p:grpSpPr>
        <p:sp>
          <p:nvSpPr>
            <p:cNvPr id="586" name="Google Shape;586;p59"/>
            <p:cNvSpPr/>
            <p:nvPr/>
          </p:nvSpPr>
          <p:spPr>
            <a:xfrm>
              <a:off x="285750" y="2762250"/>
              <a:ext cx="8429700" cy="2095500"/>
            </a:xfrm>
            <a:prstGeom prst="roundRect">
              <a:avLst>
                <a:gd fmla="val 5454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9"/>
            <p:cNvSpPr txBox="1"/>
            <p:nvPr/>
          </p:nvSpPr>
          <p:spPr>
            <a:xfrm>
              <a:off x="571500" y="2952750"/>
              <a:ext cx="3905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4748B"/>
                  </a:solidFill>
                  <a:latin typeface="Outfit"/>
                  <a:ea typeface="Outfit"/>
                  <a:cs typeface="Outfit"/>
                  <a:sym typeface="Outfit"/>
                </a:rPr>
                <a:t>Processing Performance</a:t>
              </a:r>
              <a:endParaRPr b="0" sz="120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D3D3D"/>
                  </a:solidFill>
                  <a:latin typeface="Outfit"/>
                  <a:ea typeface="Outfit"/>
                  <a:cs typeface="Outfit"/>
                  <a:sym typeface="Outfit"/>
                </a:rPr>
                <a:t>Avg. Processing Time: </a:t>
              </a:r>
              <a:r>
                <a:rPr b="1" lang="en" sz="1400">
                  <a:solidFill>
                    <a:srgbClr val="5237E6"/>
                  </a:solidFill>
                  <a:latin typeface="Outfit"/>
                  <a:ea typeface="Outfit"/>
                  <a:cs typeface="Outfit"/>
                  <a:sym typeface="Outfit"/>
                </a:rPr>
                <a:t>19.56s / PDF</a:t>
              </a:r>
              <a:endParaRPr b="1" sz="14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D3D3D"/>
                  </a:solidFill>
                  <a:latin typeface="Outfit"/>
                  <a:ea typeface="Outfit"/>
                  <a:cs typeface="Outfit"/>
                  <a:sym typeface="Outfit"/>
                </a:rPr>
                <a:t>Total Processing Time: </a:t>
              </a:r>
              <a:r>
                <a:rPr b="1" lang="en" sz="1400">
                  <a:solidFill>
                    <a:srgbClr val="5237E6"/>
                  </a:solidFill>
                  <a:latin typeface="Outfit"/>
                  <a:ea typeface="Outfit"/>
                  <a:cs typeface="Outfit"/>
                  <a:sym typeface="Outfit"/>
                </a:rPr>
                <a:t>~ 2.61 hours</a:t>
              </a:r>
              <a:endParaRPr b="1" sz="14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Outfit"/>
                  <a:ea typeface="Outfit"/>
                  <a:cs typeface="Outfit"/>
                  <a:sym typeface="Outfit"/>
                </a:rPr>
                <a:t>(9,408.36 total seconds)</a:t>
              </a:r>
              <a:endParaRPr b="0" sz="11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588" name="Google Shape;588;p59"/>
            <p:cNvCxnSpPr/>
            <p:nvPr/>
          </p:nvCxnSpPr>
          <p:spPr>
            <a:xfrm>
              <a:off x="4572000" y="3048000"/>
              <a:ext cx="0" cy="1524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9" name="Google Shape;589;p59"/>
            <p:cNvSpPr txBox="1"/>
            <p:nvPr/>
          </p:nvSpPr>
          <p:spPr>
            <a:xfrm>
              <a:off x="4857750" y="2952750"/>
              <a:ext cx="35718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4748B"/>
                  </a:solidFill>
                  <a:latin typeface="Outfit"/>
                  <a:ea typeface="Outfit"/>
                  <a:cs typeface="Outfit"/>
                  <a:sym typeface="Outfit"/>
                </a:rPr>
                <a:t>Dataset Composition</a:t>
              </a:r>
              <a:endParaRPr b="0" sz="120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D3D3D"/>
                  </a:solidFill>
                  <a:latin typeface="Outfit"/>
                  <a:ea typeface="Outfit"/>
                  <a:cs typeface="Outfit"/>
                  <a:sym typeface="Outfit"/>
                </a:rPr>
                <a:t>Clean PDFs: 401</a:t>
              </a:r>
              <a:endParaRPr b="1" sz="14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D3D3D"/>
                  </a:solidFill>
                  <a:latin typeface="Outfit"/>
                  <a:ea typeface="Outfit"/>
                  <a:cs typeface="Outfit"/>
                  <a:sym typeface="Outfit"/>
                </a:rPr>
                <a:t>Noisy PDFs: 80</a:t>
              </a:r>
              <a:endParaRPr b="1" sz="14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90" name="Google Shape;590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59"/>
          <p:cNvSpPr txBox="1"/>
          <p:nvPr>
            <p:ph type="title"/>
          </p:nvPr>
        </p:nvSpPr>
        <p:spPr>
          <a:xfrm>
            <a:off x="285750" y="285750"/>
            <a:ext cx="7851300" cy="49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rPr>
              <a:t>Full Dataset Processing Summary</a:t>
            </a:r>
            <a:endParaRPr b="0" sz="3600">
              <a:solidFill>
                <a:srgbClr val="3D3D3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0"/>
          <p:cNvSpPr txBox="1"/>
          <p:nvPr/>
        </p:nvSpPr>
        <p:spPr>
          <a:xfrm>
            <a:off x="285750" y="285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rPr>
              <a:t>Strategic Business Impact</a:t>
            </a:r>
            <a:endParaRPr sz="3600">
              <a:solidFill>
                <a:srgbClr val="3D3D3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8" name="Google Shape;598;p60"/>
          <p:cNvSpPr/>
          <p:nvPr/>
        </p:nvSpPr>
        <p:spPr>
          <a:xfrm>
            <a:off x="285750" y="1143000"/>
            <a:ext cx="4857900" cy="809700"/>
          </a:xfrm>
          <a:prstGeom prst="roundRect">
            <a:avLst>
              <a:gd fmla="val 141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60"/>
          <p:cNvSpPr txBox="1"/>
          <p:nvPr/>
        </p:nvSpPr>
        <p:spPr>
          <a:xfrm>
            <a:off x="476250" y="1285875"/>
            <a:ext cx="4476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Operational Efficiency</a:t>
            </a:r>
            <a:endParaRPr b="1" sz="1100">
              <a:solidFill>
                <a:srgbClr val="3D3D3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Reduces manual reading and encoding of tax form PDFs through automated AI ingestion.</a:t>
            </a:r>
            <a:endParaRPr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0" name="Google Shape;600;p60"/>
          <p:cNvSpPr/>
          <p:nvPr/>
        </p:nvSpPr>
        <p:spPr>
          <a:xfrm>
            <a:off x="285750" y="2095500"/>
            <a:ext cx="4857900" cy="1238400"/>
          </a:xfrm>
          <a:prstGeom prst="roundRect">
            <a:avLst>
              <a:gd fmla="val 9230" name="adj"/>
            </a:avLst>
          </a:prstGeom>
          <a:solidFill>
            <a:srgbClr val="EEF2FF"/>
          </a:solidFill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1" name="Google Shape;601;p60"/>
          <p:cNvGrpSpPr/>
          <p:nvPr/>
        </p:nvGrpSpPr>
        <p:grpSpPr>
          <a:xfrm>
            <a:off x="476250" y="2286000"/>
            <a:ext cx="4286250" cy="857400"/>
            <a:chOff x="476250" y="2286000"/>
            <a:chExt cx="4286250" cy="857400"/>
          </a:xfrm>
        </p:grpSpPr>
        <p:sp>
          <p:nvSpPr>
            <p:cNvPr id="602" name="Google Shape;602;p60"/>
            <p:cNvSpPr/>
            <p:nvPr/>
          </p:nvSpPr>
          <p:spPr>
            <a:xfrm>
              <a:off x="476250" y="2286000"/>
              <a:ext cx="1333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0"/>
            <p:cNvSpPr txBox="1"/>
            <p:nvPr/>
          </p:nvSpPr>
          <p:spPr>
            <a:xfrm>
              <a:off x="476250" y="228600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22C55E"/>
                  </a:solidFill>
                  <a:latin typeface="Outfit"/>
                  <a:ea typeface="Outfit"/>
                  <a:cs typeface="Outfit"/>
                  <a:sym typeface="Outfit"/>
                </a:rPr>
                <a:t>258</a:t>
              </a:r>
              <a:endParaRPr b="1" sz="2400">
                <a:solidFill>
                  <a:srgbClr val="22C55E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Auto-approved</a:t>
              </a:r>
              <a:endParaRPr sz="10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1952625" y="2286000"/>
              <a:ext cx="1333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0"/>
            <p:cNvSpPr txBox="1"/>
            <p:nvPr/>
          </p:nvSpPr>
          <p:spPr>
            <a:xfrm>
              <a:off x="1952625" y="228600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5237E6"/>
                  </a:solidFill>
                  <a:latin typeface="Outfit"/>
                  <a:ea typeface="Outfit"/>
                  <a:cs typeface="Outfit"/>
                  <a:sym typeface="Outfit"/>
                </a:rPr>
                <a:t>223</a:t>
              </a:r>
              <a:endParaRPr b="1" sz="2400">
                <a:solidFill>
                  <a:srgbClr val="5237E6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Manual Review</a:t>
              </a:r>
              <a:endParaRPr sz="10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3429000" y="2286000"/>
              <a:ext cx="1333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0"/>
            <p:cNvSpPr txBox="1"/>
            <p:nvPr/>
          </p:nvSpPr>
          <p:spPr>
            <a:xfrm>
              <a:off x="3429000" y="228600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EF4444"/>
                  </a:solidFill>
                  <a:latin typeface="Outfit"/>
                  <a:ea typeface="Outfit"/>
                  <a:cs typeface="Outfit"/>
                  <a:sym typeface="Outfit"/>
                </a:rPr>
                <a:t>0</a:t>
              </a:r>
              <a:endParaRPr b="1" sz="2400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Failed Files</a:t>
              </a:r>
              <a:endParaRPr sz="1000">
                <a:solidFill>
                  <a:srgbClr val="64748B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sp>
        <p:nvSpPr>
          <p:cNvPr id="608" name="Google Shape;608;p60"/>
          <p:cNvSpPr/>
          <p:nvPr/>
        </p:nvSpPr>
        <p:spPr>
          <a:xfrm>
            <a:off x="285750" y="3476625"/>
            <a:ext cx="4857900" cy="809700"/>
          </a:xfrm>
          <a:prstGeom prst="roundRect">
            <a:avLst>
              <a:gd fmla="val 141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0"/>
          <p:cNvSpPr txBox="1"/>
          <p:nvPr/>
        </p:nvSpPr>
        <p:spPr>
          <a:xfrm>
            <a:off x="476250" y="3619500"/>
            <a:ext cx="4476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Readiness</a:t>
            </a:r>
            <a:endParaRPr b="1" sz="1100">
              <a:solidFill>
                <a:srgbClr val="3D3D3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Creates structured CSV and BigQuery outputs enabling immediate downstream reporting and BI.</a:t>
            </a:r>
            <a:endParaRPr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A professional, high-tech conceptual 3D render of data flowing from a messy stack of paper documents into a clean, glowing digital server or cloud icon. Minimalist style with purple and green accents to match the brand." id="610" name="Google Shape;610;p60"/>
          <p:cNvPicPr preferRelativeResize="0"/>
          <p:nvPr/>
        </p:nvPicPr>
        <p:blipFill rotWithShape="1">
          <a:blip r:embed="rId3">
            <a:alphaModFix/>
          </a:blip>
          <a:srcRect b="6256" l="0" r="0" t="6247"/>
          <a:stretch/>
        </p:blipFill>
        <p:spPr>
          <a:xfrm>
            <a:off x="5429250" y="857250"/>
            <a:ext cx="3429000" cy="4000500"/>
          </a:xfrm>
          <a:prstGeom prst="roundRect">
            <a:avLst>
              <a:gd fmla="val 5555" name="adj"/>
            </a:avLst>
          </a:prstGeom>
          <a:noFill/>
          <a:ln>
            <a:noFill/>
          </a:ln>
        </p:spPr>
      </p:pic>
      <p:sp>
        <p:nvSpPr>
          <p:cNvPr id="611" name="Google Shape;611;p60"/>
          <p:cNvSpPr/>
          <p:nvPr/>
        </p:nvSpPr>
        <p:spPr>
          <a:xfrm>
            <a:off x="5429250" y="857250"/>
            <a:ext cx="3429000" cy="4000500"/>
          </a:xfrm>
          <a:prstGeom prst="roundRect">
            <a:avLst>
              <a:gd fmla="val 5555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1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rPr>
              <a:t>Limitations &amp; Future Vision</a:t>
            </a:r>
            <a:endParaRPr b="0" sz="3200">
              <a:solidFill>
                <a:srgbClr val="3D3D3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18" name="Google Shape;618;p61"/>
          <p:cNvSpPr/>
          <p:nvPr/>
        </p:nvSpPr>
        <p:spPr>
          <a:xfrm>
            <a:off x="381000" y="1047750"/>
            <a:ext cx="4095900" cy="2667000"/>
          </a:xfrm>
          <a:prstGeom prst="roundRect">
            <a:avLst>
              <a:gd fmla="val 7142" name="adj"/>
            </a:avLst>
          </a:prstGeom>
          <a:solidFill>
            <a:srgbClr val="F0F0F0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1"/>
          <p:cNvSpPr txBox="1"/>
          <p:nvPr/>
        </p:nvSpPr>
        <p:spPr>
          <a:xfrm>
            <a:off x="571500" y="1238250"/>
            <a:ext cx="371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Current Limitations</a:t>
            </a:r>
            <a:endParaRPr b="1" sz="1400">
              <a:solidFill>
                <a:srgbClr val="3D3D3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0" name="Google Shape;620;p61"/>
          <p:cNvSpPr txBox="1"/>
          <p:nvPr/>
        </p:nvSpPr>
        <p:spPr>
          <a:xfrm>
            <a:off x="571500" y="1619250"/>
            <a:ext cx="3714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Very noisy, rotated, or cut-off PDFs may still need manual review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OCR quality affects extraction accuracy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Address extraction is harder because it requires street, city, state, and ZIP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60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Validation is intentionally strict to avoid false auto-approval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1" name="Google Shape;621;p61"/>
          <p:cNvSpPr/>
          <p:nvPr/>
        </p:nvSpPr>
        <p:spPr>
          <a:xfrm>
            <a:off x="4667250" y="1047750"/>
            <a:ext cx="4095900" cy="2667000"/>
          </a:xfrm>
          <a:prstGeom prst="roundRect">
            <a:avLst>
              <a:gd fmla="val 7142" name="adj"/>
            </a:avLst>
          </a:prstGeom>
          <a:solidFill>
            <a:srgbClr val="EEF2FF"/>
          </a:solidFill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1"/>
          <p:cNvSpPr txBox="1"/>
          <p:nvPr/>
        </p:nvSpPr>
        <p:spPr>
          <a:xfrm>
            <a:off x="4857750" y="1238250"/>
            <a:ext cx="371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Future Improvements</a:t>
            </a:r>
            <a:endParaRPr b="1" sz="1400">
              <a:solidFill>
                <a:srgbClr val="3D3D3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3" name="Google Shape;623;p61"/>
          <p:cNvSpPr txBox="1"/>
          <p:nvPr/>
        </p:nvSpPr>
        <p:spPr>
          <a:xfrm>
            <a:off x="4857750" y="1619250"/>
            <a:ext cx="3714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 layout-aware extraction for better field positioning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 human-in-the-loop review dashboard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Improve noisy PDF handling with visual fallback models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Integrate approved records directly into a CRM workflow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600"/>
              </a:spcAft>
              <a:buClr>
                <a:srgbClr val="475569"/>
              </a:buClr>
              <a:buSzPts val="1100"/>
              <a:buFont typeface="Instrument Sans"/>
              <a:buChar char="●"/>
            </a:pPr>
            <a:r>
              <a:rPr b="0" lang="en" sz="1100">
                <a:solidFill>
                  <a:srgbClr val="47556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 monitoring dashboard for processing status and accuracy</a:t>
            </a:r>
            <a:endParaRPr b="0" sz="1100">
              <a:solidFill>
                <a:srgbClr val="47556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A clean, minimalist 3D render of a futuristic digital interface showing a progress bar and data optimization icons. Use a soft purple and green color palette on a white background." id="624" name="Google Shape;624;p61"/>
          <p:cNvPicPr preferRelativeResize="0"/>
          <p:nvPr/>
        </p:nvPicPr>
        <p:blipFill rotWithShape="1">
          <a:blip r:embed="rId3">
            <a:alphaModFix/>
          </a:blip>
          <a:srcRect b="12963" l="0" r="0" t="12963"/>
          <a:stretch/>
        </p:blipFill>
        <p:spPr>
          <a:xfrm>
            <a:off x="381000" y="3905250"/>
            <a:ext cx="3429000" cy="1428900"/>
          </a:xfrm>
          <a:prstGeom prst="roundRect">
            <a:avLst>
              <a:gd fmla="val 13333" name="adj"/>
            </a:avLst>
          </a:prstGeom>
          <a:noFill/>
          <a:ln>
            <a:noFill/>
          </a:ln>
        </p:spPr>
      </p:pic>
      <p:sp>
        <p:nvSpPr>
          <p:cNvPr id="625" name="Google Shape;625;p61"/>
          <p:cNvSpPr/>
          <p:nvPr/>
        </p:nvSpPr>
        <p:spPr>
          <a:xfrm>
            <a:off x="4000500" y="3905250"/>
            <a:ext cx="4762500" cy="952500"/>
          </a:xfrm>
          <a:prstGeom prst="roundRect">
            <a:avLst>
              <a:gd fmla="val 20000" name="adj"/>
            </a:avLst>
          </a:prstGeom>
          <a:solidFill>
            <a:srgbClr val="B8A7FF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61"/>
          <p:cNvSpPr txBox="1"/>
          <p:nvPr/>
        </p:nvSpPr>
        <p:spPr>
          <a:xfrm>
            <a:off x="4286250" y="4095750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237E6"/>
                </a:solidFill>
                <a:latin typeface="Outfit"/>
                <a:ea typeface="Outfit"/>
                <a:cs typeface="Outfit"/>
                <a:sym typeface="Outfit"/>
              </a:rPr>
              <a:t>The system is designed to automate reliable records while safely routing uncertain records for review.</a:t>
            </a:r>
            <a:endParaRPr b="1" sz="1300">
              <a:solidFill>
                <a:srgbClr val="5237E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